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63B"/>
    <a:srgbClr val="044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5099F-23A4-4AC8-87E9-BC6A642BE1FE}" v="524" dt="2026-06-08T13:50:01.619"/>
    <p1510:client id="{9E75CE9B-6354-45DC-AEAD-38455827EE7C}" v="79" dt="2026-06-08T16:54:02.449"/>
    <p1510:client id="{F0A0298E-1049-4421-9617-CAFAF3178153}" v="133" dt="2026-06-08T14:22:14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781EB9063D663A60/OSS_Usage_Sector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1800" b="1" strike="noStrike" spc="-1">
                <a:solidFill>
                  <a:srgbClr val="000000"/>
                </a:solidFill>
                <a:latin typeface="Calibri"/>
              </a:defRPr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Usage Percentage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'OSS Usage by Sector'!B2</c:f>
              <c:strCache>
                <c:ptCount val="1"/>
                <c:pt idx="0">
                  <c:v>Usage Percentage (%)</c:v>
                </c:pt>
              </c:strCache>
            </c:strRef>
          </c:tx>
          <c:spPr>
            <a:solidFill>
              <a:srgbClr val="2E75B6"/>
            </a:solidFill>
            <a:ln w="9360">
              <a:solidFill>
                <a:srgbClr val="F9F9F9"/>
              </a:solidFill>
              <a:round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'OSS Usage by Sector'!$A$3:$A$7</c:f>
              <c:strCache>
                <c:ptCount val="5"/>
                <c:pt idx="0">
                  <c:v>Education</c:v>
                </c:pt>
                <c:pt idx="1">
                  <c:v>Business</c:v>
                </c:pt>
                <c:pt idx="2">
                  <c:v>Business</c:v>
                </c:pt>
                <c:pt idx="3">
                  <c:v>IT Industry</c:v>
                </c:pt>
                <c:pt idx="4">
                  <c:v>Healthcare</c:v>
                </c:pt>
              </c:strCache>
            </c:strRef>
          </c:cat>
          <c:val>
            <c:numRef>
              <c:f>'OSS Usage by Sector'!$B$3:$B$7</c:f>
              <c:numCache>
                <c:formatCode>General</c:formatCode>
                <c:ptCount val="5"/>
                <c:pt idx="0">
                  <c:v>70</c:v>
                </c:pt>
                <c:pt idx="1">
                  <c:v>65</c:v>
                </c:pt>
                <c:pt idx="2">
                  <c:v>60</c:v>
                </c:pt>
                <c:pt idx="3">
                  <c:v>90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94-41E9-8E91-3A933DB57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6466717"/>
        <c:axId val="41418177"/>
      </c:barChart>
      <c:catAx>
        <c:axId val="66466717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1" strike="noStrike" spc="-1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Calibri"/>
                  </a:rPr>
                  <a:t>Sector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41418177"/>
        <c:crosses val="autoZero"/>
        <c:auto val="1"/>
        <c:lblAlgn val="ctr"/>
        <c:lblOffset val="100"/>
        <c:noMultiLvlLbl val="0"/>
      </c:catAx>
      <c:valAx>
        <c:axId val="4141817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000" b="1" strike="noStrike" spc="-1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Calibri"/>
                  </a:rPr>
                  <a:t>Percentage (%)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66466717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42F66-A051-4580-A404-37EFB434B118}" type="datetimeFigureOut">
              <a:t>6/8/2026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F6DC-41C2-4215-AAD4-F47EBD06FE7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9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843534"/>
            <a:ext cx="8277606" cy="2379726"/>
          </a:xfrm>
        </p:spPr>
        <p:txBody>
          <a:bodyPr anchor="b">
            <a:normAutofit/>
          </a:bodyPr>
          <a:lstStyle>
            <a:lvl1pPr algn="l">
              <a:defRPr sz="142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3545586"/>
            <a:ext cx="8277606" cy="1110996"/>
          </a:xfrm>
        </p:spPr>
        <p:txBody>
          <a:bodyPr>
            <a:normAutofit/>
          </a:bodyPr>
          <a:lstStyle>
            <a:lvl1pPr marL="0" indent="0" algn="l">
              <a:buNone/>
              <a:defRPr sz="4978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4767263"/>
            <a:ext cx="2057400" cy="273844"/>
          </a:xfrm>
        </p:spPr>
        <p:txBody>
          <a:bodyPr/>
          <a:lstStyle/>
          <a:p>
            <a:fld id="{965A7A7B-B71A-428D-833F-0F3507A6DB13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43158" y="260093"/>
            <a:ext cx="109728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3375901"/>
            <a:ext cx="8276022" cy="137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603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58518"/>
            <a:ext cx="7626096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5CF65307-640F-4AE7-B0BE-50C709AD86C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86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3736066"/>
            <a:ext cx="8351217" cy="61722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3838936"/>
            <a:ext cx="109728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480060"/>
            <a:ext cx="8167878" cy="3086100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3826764"/>
            <a:ext cx="7955280" cy="438912"/>
          </a:xfrm>
        </p:spPr>
        <p:txBody>
          <a:bodyPr anchor="ctr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9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1858518"/>
            <a:ext cx="3703320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1858518"/>
            <a:ext cx="3703320" cy="27706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202278E8-5F4B-47D5-A617-8CCDF75D6A33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5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2402766"/>
            <a:ext cx="3703320" cy="222638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2402766"/>
            <a:ext cx="3703320" cy="2226383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16AAFA52-7A21-407F-8339-40DF182D7460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5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228849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53896"/>
            <a:ext cx="7632954" cy="2242566"/>
          </a:xfrm>
        </p:spPr>
        <p:txBody>
          <a:bodyPr>
            <a:normAutofit/>
          </a:bodyPr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4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2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282446"/>
            <a:ext cx="5047488" cy="3072384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1750"/>
            <a:ext cx="2324862" cy="154990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E6483A1-31A8-47A2-AB0A-53A7803D5EB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5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870966"/>
            <a:ext cx="5047488" cy="3483864"/>
          </a:xfrm>
        </p:spPr>
        <p:txBody>
          <a:bodyPr anchor="t">
            <a:normAutofit/>
          </a:bodyPr>
          <a:lstStyle>
            <a:lvl1pPr marL="0" indent="0">
              <a:buNone/>
              <a:defRPr sz="4978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8608"/>
            <a:ext cx="2324862" cy="154305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D8810B9-2C7C-4CAF-99E2-617AE20BA33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71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9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9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59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2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806" y="244112"/>
            <a:ext cx="2190477" cy="2182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9144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Software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" y="2286000"/>
            <a:ext cx="5841547" cy="70212"/>
          </a:xfrm>
          <a:prstGeom prst="rect">
            <a:avLst/>
          </a:prstGeom>
          <a:solidFill>
            <a:srgbClr val="14A8BC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A8BC"/>
                </a:solidFill>
                <a:latin typeface="Aptos"/>
                <a:ea typeface="Calibri"/>
                <a:cs typeface="Calibri"/>
              </a:rPr>
              <a:t>A Comprehensive Overview</a:t>
            </a:r>
            <a:endParaRPr lang="en-US" sz="1800" dirty="0">
              <a:latin typeface="Aptos"/>
              <a:ea typeface="Calibri"/>
              <a:cs typeface="Calibr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5518" y="3139168"/>
            <a:ext cx="3848644" cy="14173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8" name="Text 5"/>
          <p:cNvSpPr/>
          <p:nvPr/>
        </p:nvSpPr>
        <p:spPr>
          <a:xfrm>
            <a:off x="5328013" y="3320415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Tashreef Muhammad
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Fundamental Lab | Code: 1102
Section: 08 | Dept: CSE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1673" y="3139168"/>
            <a:ext cx="3837215" cy="1417320"/>
          </a:xfrm>
          <a:prstGeom prst="rect">
            <a:avLst/>
          </a:prstGeom>
          <a:solidFill>
            <a:schemeClr val="accent4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0" name="Text 7"/>
          <p:cNvSpPr/>
          <p:nvPr/>
        </p:nvSpPr>
        <p:spPr>
          <a:xfrm>
            <a:off x="438422" y="3320415"/>
            <a:ext cx="420624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A8BC"/>
                </a:solidFill>
                <a:latin typeface="Calibri"/>
                <a:ea typeface="Calibri"/>
                <a:cs typeface="Calibri"/>
              </a:rPr>
              <a:t>Submitted By
</a:t>
            </a: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Tawsif Sarkar Tonmoy (2026000000224)
Mahmudul Haque Akash (2026000000223)
</a:t>
            </a:r>
            <a:r>
              <a:rPr lang="en-US" sz="10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Jawat</a:t>
            </a:r>
            <a:r>
              <a:rPr lang="en-US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Islam Shihad (2026000000211)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B7B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15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05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whose source code is freely available for anyone to view, modify, and distribute.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05740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B7B8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1214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011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open-source licenses (e.g., MIT, GPL, Apache 2.0).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306324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B7B8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12724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collaboratively by global communities of developers.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54880" y="105156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B7B8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111556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1005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 with proprietary software which restricts access to source code.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205740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B7B8C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12140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4960" y="2011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 significant portion of the modern internet and cloud infrastructure.</a:t>
            </a:r>
            <a:endParaRPr lang="en-US" sz="1200" dirty="0"/>
          </a:p>
        </p:txBody>
      </p:sp>
      <p:pic>
        <p:nvPicPr>
          <p:cNvPr id="22" name="Picture 21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AF12540E-A6C2-D40C-9277-33A8AB88DC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 Source Software?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8750" y="1005840"/>
            <a:ext cx="1844927" cy="320483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777240" y="1143000"/>
            <a:ext cx="914400" cy="914400"/>
          </a:xfrm>
          <a:prstGeom prst="ellipse">
            <a:avLst/>
          </a:prstGeom>
          <a:solidFill>
            <a:srgbClr val="071623"/>
          </a:solidFill>
          <a:ln w="25400">
            <a:solidFill>
              <a:srgbClr val="14A8B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download, use, and run the software at no cost for any purpose.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0592" y="1005840"/>
            <a:ext cx="1920240" cy="3200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1" name="Shape 8"/>
          <p:cNvSpPr/>
          <p:nvPr/>
        </p:nvSpPr>
        <p:spPr>
          <a:xfrm>
            <a:off x="2953512" y="1143000"/>
            <a:ext cx="914400" cy="914400"/>
          </a:xfrm>
          <a:prstGeom prst="ellipse">
            <a:avLst/>
          </a:prstGeom>
          <a:solidFill>
            <a:srgbClr val="071623"/>
          </a:solidFill>
          <a:ln w="254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1261872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50592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42032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study the source code, make improvements, and adapt it to their needs.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26864" y="1005840"/>
            <a:ext cx="1920240" cy="3200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6" name="Shape 12"/>
          <p:cNvSpPr/>
          <p:nvPr/>
        </p:nvSpPr>
        <p:spPr>
          <a:xfrm>
            <a:off x="5129784" y="1143000"/>
            <a:ext cx="914400" cy="914400"/>
          </a:xfrm>
          <a:prstGeom prst="ellipse">
            <a:avLst/>
          </a:prstGeom>
          <a:solidFill>
            <a:srgbClr val="071623"/>
          </a:solidFill>
          <a:ln w="25400">
            <a:solidFill>
              <a:srgbClr val="0B7B8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1261872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26864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Distributable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18304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or original versions can be shared freely with others worldwide.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03136" y="1005840"/>
            <a:ext cx="1920240" cy="32004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1" name="Shape 16"/>
          <p:cNvSpPr/>
          <p:nvPr/>
        </p:nvSpPr>
        <p:spPr>
          <a:xfrm>
            <a:off x="7306056" y="1143000"/>
            <a:ext cx="914400" cy="914400"/>
          </a:xfrm>
          <a:prstGeom prst="ellipse">
            <a:avLst/>
          </a:prstGeom>
          <a:solidFill>
            <a:srgbClr val="071623"/>
          </a:solidFill>
          <a:ln w="25400">
            <a:solidFill>
              <a:srgbClr val="14A8B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1261872"/>
            <a:ext cx="685800" cy="6858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3136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94576" y="26974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audit the code for security vulnerabilities or ethical concerns.</a:t>
            </a:r>
            <a:endParaRPr lang="en-US" sz="1050" dirty="0"/>
          </a:p>
        </p:txBody>
      </p:sp>
      <p:pic>
        <p:nvPicPr>
          <p:cNvPr id="30" name="Picture 29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6F22FC17-8A82-D2AE-9DA5-334EF16B39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History &amp; Evolution of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Software</a:t>
            </a:r>
            <a:endParaRPr lang="en-US" sz="2800" dirty="0"/>
          </a:p>
        </p:txBody>
      </p:sp>
      <p:pic>
        <p:nvPicPr>
          <p:cNvPr id="33" name="Picture 32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444041AD-266E-9B02-17EA-3BC9009CF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133A43B-24F3-7C7F-7A91-F39C110D9FE0}"/>
              </a:ext>
            </a:extLst>
          </p:cNvPr>
          <p:cNvSpPr/>
          <p:nvPr/>
        </p:nvSpPr>
        <p:spPr>
          <a:xfrm>
            <a:off x="255846" y="1095501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256E3-43F2-F011-FD72-F4B57B15C070}"/>
              </a:ext>
            </a:extLst>
          </p:cNvPr>
          <p:cNvSpPr txBox="1"/>
          <p:nvPr/>
        </p:nvSpPr>
        <p:spPr>
          <a:xfrm>
            <a:off x="564665" y="1423338"/>
            <a:ext cx="88582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UNIX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developed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at Bell Labs</a:t>
            </a:r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239120-7438-E476-4388-35573B241399}"/>
              </a:ext>
            </a:extLst>
          </p:cNvPr>
          <p:cNvSpPr/>
          <p:nvPr/>
        </p:nvSpPr>
        <p:spPr>
          <a:xfrm>
            <a:off x="2868417" y="1066926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205FB3-3A1C-CEAE-5AC2-01DE0438D666}"/>
              </a:ext>
            </a:extLst>
          </p:cNvPr>
          <p:cNvSpPr/>
          <p:nvPr/>
        </p:nvSpPr>
        <p:spPr>
          <a:xfrm>
            <a:off x="1366189" y="2993697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D5571C-93BD-1C8D-466A-E2C06D7E10FD}"/>
              </a:ext>
            </a:extLst>
          </p:cNvPr>
          <p:cNvSpPr/>
          <p:nvPr/>
        </p:nvSpPr>
        <p:spPr>
          <a:xfrm>
            <a:off x="5872874" y="1095501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0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4181D74-73CE-19A0-06F0-C7713F158ABF}"/>
              </a:ext>
            </a:extLst>
          </p:cNvPr>
          <p:cNvSpPr/>
          <p:nvPr/>
        </p:nvSpPr>
        <p:spPr>
          <a:xfrm>
            <a:off x="4370647" y="2993697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861B26-3FFE-44C8-FB59-2413D3E74E01}"/>
              </a:ext>
            </a:extLst>
          </p:cNvPr>
          <p:cNvSpPr/>
          <p:nvPr/>
        </p:nvSpPr>
        <p:spPr>
          <a:xfrm>
            <a:off x="7224064" y="2993697"/>
            <a:ext cx="1504726" cy="12063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FD3E73-7BED-36FC-EE64-FE41F1A6E2DE}"/>
              </a:ext>
            </a:extLst>
          </p:cNvPr>
          <p:cNvSpPr txBox="1"/>
          <p:nvPr/>
        </p:nvSpPr>
        <p:spPr>
          <a:xfrm>
            <a:off x="3109602" y="1393991"/>
            <a:ext cx="102053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Linux Kernel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released by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Linus Torvalds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5062B5-7555-BC6B-0511-75FCA6BAD2A9}"/>
              </a:ext>
            </a:extLst>
          </p:cNvPr>
          <p:cNvSpPr txBox="1"/>
          <p:nvPr/>
        </p:nvSpPr>
        <p:spPr>
          <a:xfrm>
            <a:off x="1600324" y="3243571"/>
            <a:ext cx="10368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GNU Project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launched by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Richard Stallman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7734F2-63F1-82A5-8CBB-8D3EFD593226}"/>
              </a:ext>
            </a:extLst>
          </p:cNvPr>
          <p:cNvSpPr txBox="1"/>
          <p:nvPr/>
        </p:nvSpPr>
        <p:spPr>
          <a:xfrm>
            <a:off x="4542929" y="3375314"/>
            <a:ext cx="11552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Open Source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Initiative (OSI)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founded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l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6F82E6-3ACC-6502-12AE-211A577C6D46}"/>
              </a:ext>
            </a:extLst>
          </p:cNvPr>
          <p:cNvSpPr txBox="1"/>
          <p:nvPr/>
        </p:nvSpPr>
        <p:spPr>
          <a:xfrm>
            <a:off x="6202135" y="1394731"/>
            <a:ext cx="84500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Ubuntu Linux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first release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l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31932-C71F-41FC-11A2-2F47EF7FBFD3}"/>
              </a:ext>
            </a:extLst>
          </p:cNvPr>
          <p:cNvSpPr txBox="1"/>
          <p:nvPr/>
        </p:nvSpPr>
        <p:spPr>
          <a:xfrm>
            <a:off x="7435190" y="3373581"/>
            <a:ext cx="108176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GitHub, Cloud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&amp; modern OSS</a:t>
            </a:r>
            <a:endParaRPr lang="en-US" sz="1000">
              <a:latin typeface="Calibri"/>
              <a:ea typeface="Calibri"/>
              <a:cs typeface="Calibri"/>
            </a:endParaRPr>
          </a:p>
          <a:p>
            <a:endParaRPr lang="en-GB" dirty="0">
              <a:solidFill>
                <a:srgbClr val="000000"/>
              </a:solidFill>
              <a:latin typeface="Avenir Next LT Pro"/>
              <a:ea typeface="Calibri"/>
              <a:cs typeface="Calibri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3FFA7C-3589-5D92-4644-AB0ED3F66683}"/>
              </a:ext>
            </a:extLst>
          </p:cNvPr>
          <p:cNvCxnSpPr/>
          <p:nvPr/>
        </p:nvCxnSpPr>
        <p:spPr>
          <a:xfrm>
            <a:off x="1290204" y="2242704"/>
            <a:ext cx="510886" cy="81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F128C5-2055-DDCC-13A6-AF0699DD1EDA}"/>
              </a:ext>
            </a:extLst>
          </p:cNvPr>
          <p:cNvCxnSpPr/>
          <p:nvPr/>
        </p:nvCxnSpPr>
        <p:spPr>
          <a:xfrm flipV="1">
            <a:off x="2528454" y="2190750"/>
            <a:ext cx="710045" cy="87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469A75-C74E-D497-91BF-D5EC0993C521}"/>
              </a:ext>
            </a:extLst>
          </p:cNvPr>
          <p:cNvCxnSpPr/>
          <p:nvPr/>
        </p:nvCxnSpPr>
        <p:spPr>
          <a:xfrm>
            <a:off x="4147704" y="2112818"/>
            <a:ext cx="666750" cy="93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F73F7F-9663-167C-7DE0-8E08020F8227}"/>
              </a:ext>
            </a:extLst>
          </p:cNvPr>
          <p:cNvCxnSpPr/>
          <p:nvPr/>
        </p:nvCxnSpPr>
        <p:spPr>
          <a:xfrm flipV="1">
            <a:off x="5550477" y="2182091"/>
            <a:ext cx="623454" cy="87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F2720F-A479-306A-6738-536E8EB8E20C}"/>
              </a:ext>
            </a:extLst>
          </p:cNvPr>
          <p:cNvCxnSpPr/>
          <p:nvPr/>
        </p:nvCxnSpPr>
        <p:spPr>
          <a:xfrm>
            <a:off x="7126431" y="2199409"/>
            <a:ext cx="588818" cy="83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243E3D-6AF3-169B-37DB-E4C3D4C85F74}"/>
              </a:ext>
            </a:extLst>
          </p:cNvPr>
          <p:cNvSpPr txBox="1"/>
          <p:nvPr/>
        </p:nvSpPr>
        <p:spPr>
          <a:xfrm>
            <a:off x="716812" y="2365838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1969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9D658-E3D9-1BB6-515B-C53C4FD1122D}"/>
              </a:ext>
            </a:extLst>
          </p:cNvPr>
          <p:cNvSpPr txBox="1"/>
          <p:nvPr/>
        </p:nvSpPr>
        <p:spPr>
          <a:xfrm>
            <a:off x="1757757" y="4296692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1983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22531-8741-335B-9AB9-1E6813E9D854}"/>
              </a:ext>
            </a:extLst>
          </p:cNvPr>
          <p:cNvSpPr txBox="1"/>
          <p:nvPr/>
        </p:nvSpPr>
        <p:spPr>
          <a:xfrm>
            <a:off x="3341629" y="2357674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1991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F46F8-5D89-89D7-DA9B-E3792E9BA880}"/>
              </a:ext>
            </a:extLst>
          </p:cNvPr>
          <p:cNvSpPr txBox="1"/>
          <p:nvPr/>
        </p:nvSpPr>
        <p:spPr>
          <a:xfrm>
            <a:off x="4909172" y="4296692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1998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0C7C6-92F9-7B01-2C31-BEF5C639FFE1}"/>
              </a:ext>
            </a:extLst>
          </p:cNvPr>
          <p:cNvSpPr txBox="1"/>
          <p:nvPr/>
        </p:nvSpPr>
        <p:spPr>
          <a:xfrm>
            <a:off x="6346086" y="2390331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2004</a:t>
            </a:r>
            <a:endParaRPr lang="en-GB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FE63A-5CE4-039B-DF81-622DF6493FB1}"/>
              </a:ext>
            </a:extLst>
          </p:cNvPr>
          <p:cNvSpPr txBox="1"/>
          <p:nvPr/>
        </p:nvSpPr>
        <p:spPr>
          <a:xfrm>
            <a:off x="7762590" y="4296692"/>
            <a:ext cx="555171" cy="261610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100"/>
              <a:t>2008</a:t>
            </a:r>
            <a:endParaRPr lang="en-GB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Open Source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rgbClr val="0B7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Operating Systems</a:t>
            </a:r>
            <a:endParaRPr lang="en-US" sz="120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Ubuntu, FreeBSD, Android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Web Servers</a:t>
            </a:r>
            <a:endParaRPr lang="en-US" sz="120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0328" y="1389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HTTP, NGINX, Lighttpd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Databases</a:t>
            </a:r>
            <a:endParaRPr lang="en-US" sz="120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" y="262432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MongoDB, SQLite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rgbClr val="0B7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Programming</a:t>
            </a:r>
            <a:endParaRPr lang="en-US" sz="120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0328" y="2624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PHP, Perl, Ruby, GCC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Office &amp; Media</a:t>
            </a:r>
            <a:endParaRPr lang="en-US" sz="120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" y="3858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LibreOffice, GIMP, VLC, Blender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4114800" cy="1097280"/>
          </a:xfrm>
          <a:prstGeom prst="round2DiagRect">
            <a:avLst/>
          </a:prstGeom>
          <a:solidFill>
            <a:srgbClr val="0D2137"/>
          </a:solidFill>
          <a:ln w="254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Dev Tools</a:t>
            </a:r>
            <a:endParaRPr lang="en-US" sz="1200" dirty="0">
              <a:solidFill>
                <a:srgbClr val="00515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10328" y="3858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VS Code, Eclipse, Docker</a:t>
            </a:r>
            <a:endParaRPr lang="en-US" sz="1050" dirty="0"/>
          </a:p>
        </p:txBody>
      </p:sp>
      <p:pic>
        <p:nvPicPr>
          <p:cNvPr id="32" name="Picture 31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3488EE6F-E8CB-139D-91FD-9BF53483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Open Source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07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8328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fees; organizations save 40–80% on software costs.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00584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207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3048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Transparency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282696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publicly auditable; vulnerabilities are identified and fixed faster.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17336" y="100584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2070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57416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Customization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227064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 tailor software exactly to their requirements.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28600" y="288036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08152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38328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not dependent on a single company's decisions or pricing.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172968" y="288036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308152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13048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Innovation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282696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contributors accelerate feature development and bug fixes.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17336" y="2880360"/>
            <a:ext cx="2697480" cy="1645920"/>
          </a:xfrm>
          <a:prstGeom prst="round2Same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08152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5741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227064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Community-maintained software survives even if original authors stop.</a:t>
            </a:r>
            <a:endParaRPr lang="en-US" sz="1000" dirty="0"/>
          </a:p>
        </p:txBody>
      </p:sp>
      <p:pic>
        <p:nvPicPr>
          <p:cNvPr id="30" name="Picture 29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0E03886F-C926-73BD-6531-EB1426BC96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&amp; Challenges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snip2DiagRect">
            <a:avLst/>
          </a:prstGeom>
          <a:solidFill>
            <a:srgbClr val="0D2137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Steep Learning Curve:  </a:t>
            </a:r>
            <a:endParaRPr lang="en-US" sz="1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OSS tools lack polished UX; require technical expertise to install and configure.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658368"/>
          </a:xfrm>
          <a:prstGeom prst="snip2DiagRect">
            <a:avLst/>
          </a:prstGeom>
          <a:solidFill>
            <a:srgbClr val="0D2137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Limited Official Support:  </a:t>
            </a:r>
            <a:endParaRPr lang="en-US" sz="1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SLA; users rely on community forums which may respond slowly.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658368"/>
          </a:xfrm>
          <a:prstGeom prst="snip2DiagRect">
            <a:avLst/>
          </a:prstGeom>
          <a:solidFill>
            <a:srgbClr val="0D2137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Compatibility Issues: </a:t>
            </a:r>
            <a:r>
              <a:rPr lang="en-US" sz="1200" b="1" dirty="0">
                <a:solidFill>
                  <a:srgbClr val="D69E2E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51760" y="260604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proprietary systems or legacy hardware can be problematic.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8595360" cy="658368"/>
          </a:xfrm>
          <a:prstGeom prst="snip2DiagRect">
            <a:avLst/>
          </a:prstGeom>
          <a:solidFill>
            <a:srgbClr val="0D2137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Security Risks if Unmanaged:  </a:t>
            </a:r>
            <a:endParaRPr lang="en-US" sz="1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51760" y="338328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Unaudited or abandoned repositories may contain unpatched vulnerabilities.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58368"/>
          </a:xfrm>
          <a:prstGeom prst="snip2DiagRect">
            <a:avLst/>
          </a:prstGeom>
          <a:solidFill>
            <a:srgbClr val="0D2137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0520"/>
            <a:ext cx="219456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Fragmentation:  </a:t>
            </a:r>
            <a:endParaRPr lang="en-US" sz="1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51760" y="416052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competing forks can split communities and confuse end users.</a:t>
            </a:r>
            <a:endParaRPr lang="en-US" sz="1100" dirty="0"/>
          </a:p>
        </p:txBody>
      </p:sp>
      <p:pic>
        <p:nvPicPr>
          <p:cNvPr id="26" name="Picture 25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8C38EF70-8908-3614-8CC4-1674D0C9F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DE4CF4-5867-D9F4-75D8-173FF2AC1F1A}"/>
              </a:ext>
            </a:extLst>
          </p:cNvPr>
          <p:cNvSpPr/>
          <p:nvPr/>
        </p:nvSpPr>
        <p:spPr>
          <a:xfrm>
            <a:off x="348" y="-1"/>
            <a:ext cx="9139569" cy="82402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dirty="0"/>
          </a:p>
        </p:txBody>
      </p:sp>
      <p:pic>
        <p:nvPicPr>
          <p:cNvPr id="5" name="Picture 4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C8267AB6-F059-5DE9-9136-174D8304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249267"/>
              </p:ext>
            </p:extLst>
          </p:nvPr>
        </p:nvGraphicFramePr>
        <p:xfrm>
          <a:off x="3286125" y="942722"/>
          <a:ext cx="5785567" cy="3828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5CA4F9-A76C-3E60-5E81-19A9A785D5EF}"/>
              </a:ext>
            </a:extLst>
          </p:cNvPr>
          <p:cNvSpPr txBox="1"/>
          <p:nvPr/>
        </p:nvSpPr>
        <p:spPr>
          <a:xfrm>
            <a:off x="112971" y="179993"/>
            <a:ext cx="76839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Usage of </a:t>
            </a:r>
            <a:r>
              <a:rPr lang="en-GB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</a:t>
            </a:r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Software in Different Sectors</a:t>
            </a:r>
            <a:endParaRPr lang="en-GB" sz="2400" b="1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E44AD5-2D21-21C7-672F-EB9122972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78440"/>
              </p:ext>
            </p:extLst>
          </p:nvPr>
        </p:nvGraphicFramePr>
        <p:xfrm>
          <a:off x="114299" y="1681842"/>
          <a:ext cx="3030721" cy="2349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7534">
                  <a:extLst>
                    <a:ext uri="{9D8B030D-6E8A-4147-A177-3AD203B41FA5}">
                      <a16:colId xmlns:a16="http://schemas.microsoft.com/office/drawing/2014/main" val="1733321746"/>
                    </a:ext>
                  </a:extLst>
                </a:gridCol>
                <a:gridCol w="1223187">
                  <a:extLst>
                    <a:ext uri="{9D8B030D-6E8A-4147-A177-3AD203B41FA5}">
                      <a16:colId xmlns:a16="http://schemas.microsoft.com/office/drawing/2014/main" val="3181772310"/>
                    </a:ext>
                  </a:extLst>
                </a:gridCol>
              </a:tblGrid>
              <a:tr h="510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Sector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Usage Percentage (%)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413238"/>
                  </a:ext>
                </a:extLst>
              </a:tr>
              <a:tr h="367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518289"/>
                  </a:ext>
                </a:extLst>
              </a:tr>
              <a:tr h="367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360043"/>
                  </a:ext>
                </a:extLst>
              </a:tr>
              <a:tr h="367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929119"/>
                  </a:ext>
                </a:extLst>
              </a:tr>
              <a:tr h="367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IT Industry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901862"/>
                  </a:ext>
                </a:extLst>
              </a:tr>
              <a:tr h="367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Healthcare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44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6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vs. Proprietary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960120"/>
            <a:ext cx="29260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960120"/>
            <a:ext cx="29260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57800" y="960120"/>
            <a:ext cx="29260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960120"/>
            <a:ext cx="29260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0876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508760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5087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 cost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508760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5087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expensive licensing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984248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8424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1984248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9842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accessible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1984248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9842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hidden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459736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45973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2459736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4597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57800" y="2459736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4597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none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2935224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9352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2935224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93522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7800" y="2935224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93522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vendor support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3410712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41071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3410712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341071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Community-audited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57800" y="3410712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41071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Vendor-controlled audits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886200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88620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0" y="3886200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38862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57800" y="3886200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38862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schedule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4361688"/>
            <a:ext cx="1965960" cy="420624"/>
          </a:xfrm>
          <a:prstGeom prst="rect">
            <a:avLst/>
          </a:prstGeom>
          <a:solidFill>
            <a:srgbClr val="1A3C5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36168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4361688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4361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Python, MySQL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57800" y="4361688"/>
            <a:ext cx="2926080" cy="420624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9240" y="4361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Adobe, Oracle DB</a:t>
            </a:r>
            <a:endParaRPr lang="en-US" sz="1050" dirty="0"/>
          </a:p>
        </p:txBody>
      </p:sp>
      <p:pic>
        <p:nvPicPr>
          <p:cNvPr id="52" name="Picture 51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4EB85DF4-001D-1A38-E96A-484ABD7C7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/>
            </a:solidFill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47472" cy="347472"/>
          </a:xfrm>
          <a:prstGeom prst="ellipse">
            <a:avLst/>
          </a:prstGeom>
          <a:solidFill>
            <a:srgbClr val="0B7B8C"/>
          </a:solidFill>
          <a:ln w="12700">
            <a:solidFill>
              <a:srgbClr val="14A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921665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Software has revolutionized the global software landscape by democratizing access to powerful tools.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37944"/>
            <a:ext cx="347472" cy="347472"/>
          </a:xfrm>
          <a:prstGeom prst="ellipse">
            <a:avLst/>
          </a:prstGeom>
          <a:solidFill>
            <a:srgbClr val="0B7B8C"/>
          </a:solidFill>
          <a:ln w="12700">
            <a:solidFill>
              <a:srgbClr val="14A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37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68061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drives innovation across all sectors — from healthcare to scientific research — by enabling global collaboration.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347472" cy="347472"/>
          </a:xfrm>
          <a:prstGeom prst="ellipse">
            <a:avLst/>
          </a:prstGeom>
          <a:solidFill>
            <a:srgbClr val="0B7B8C"/>
          </a:solidFill>
          <a:ln w="12700">
            <a:solidFill>
              <a:srgbClr val="14A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52374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savings, transparency, and flexibility of OSS make it the backbone of modern IT infrastructure.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355848"/>
            <a:ext cx="347472" cy="347472"/>
          </a:xfrm>
          <a:prstGeom prst="ellipse">
            <a:avLst/>
          </a:prstGeom>
          <a:solidFill>
            <a:srgbClr val="0B7B8C"/>
          </a:solidFill>
          <a:ln w="12700">
            <a:solidFill>
              <a:srgbClr val="14A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55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2029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like support and learning curve are manageable with proper governance and community engagement.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347472" cy="347472"/>
          </a:xfrm>
          <a:prstGeom prst="ellipse">
            <a:avLst/>
          </a:prstGeom>
          <a:solidFill>
            <a:srgbClr val="0B7B8C"/>
          </a:solidFill>
          <a:ln w="12700">
            <a:solidFill>
              <a:srgbClr val="14A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114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404164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software is increasingly open: contributions from individuals and organizations continue to grow.</a:t>
            </a:r>
            <a:endParaRPr lang="en-US" sz="1250" dirty="0"/>
          </a:p>
        </p:txBody>
      </p:sp>
      <p:pic>
        <p:nvPicPr>
          <p:cNvPr id="22" name="Picture 21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315FB607-B255-2041-E50E-3EF5A335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8321040" cy="40233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ctr"/>
          <a:lstStyle/>
          <a:p>
            <a:r>
              <a:rPr lang="en-US" sz="1050" dirty="0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[1] </a:t>
            </a:r>
            <a:r>
              <a:rPr lang="en-US" sz="1050" dirty="0" err="1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Open Source</a:t>
            </a:r>
            <a:r>
              <a:rPr lang="en-US" sz="1050" dirty="0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 Initiative. (2024). The </a:t>
            </a:r>
            <a:r>
              <a:rPr lang="en-US" sz="1050" dirty="0" err="1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Open Source</a:t>
            </a:r>
            <a:r>
              <a:rPr lang="en-US" sz="1050" dirty="0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 Definition. https://opensource.org/osd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8321040" cy="40233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ctr"/>
          <a:lstStyle/>
          <a:p>
            <a:r>
              <a:rPr lang="en-US" sz="1050" dirty="0">
                <a:solidFill>
                  <a:srgbClr val="0D2137"/>
                </a:solidFill>
                <a:latin typeface="Calibri"/>
                <a:ea typeface="Calibri"/>
                <a:cs typeface="Calibri"/>
              </a:rPr>
              <a:t>[2]  Raymond, E. S. (1999). The Cathedral and the Bazaar. O'Reilly Media.</a:t>
            </a:r>
            <a:endParaRPr lang="en-US" sz="1050">
              <a:latin typeface="Avenir Next LT Pro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85953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56816"/>
            <a:ext cx="8321040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Stallman, R. (1983). GNU Project Announcement. Free Software Foundation.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32304"/>
            <a:ext cx="8321040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GitHub. (2024). The State of the Octoverse Report. https://octoverse.github.com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8321040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Black Duck Software. (2023). Open Source Security and Risk Analysis (OSSRA) Report.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83280"/>
            <a:ext cx="8321040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Linux Foundation. (2023). Open Source in Enterprise: Annual Survey Report.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85953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58768"/>
            <a:ext cx="8321040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Wikipedia. (2024). Open-source software. https://en.wikipedia.org/wiki/Open-source_software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University | Dept. of Computer Science &amp; Engineering | Spring 2026</a:t>
            </a:r>
            <a:endParaRPr lang="en-US" sz="1000" dirty="0"/>
          </a:p>
        </p:txBody>
      </p:sp>
      <p:pic>
        <p:nvPicPr>
          <p:cNvPr id="24" name="Picture 23" descr="A logo of a science and engineering company&#10;&#10;AI-generated content may be incorrect.">
            <a:extLst>
              <a:ext uri="{FF2B5EF4-FFF2-40B4-BE49-F238E27FC236}">
                <a16:creationId xmlns:a16="http://schemas.microsoft.com/office/drawing/2014/main" id="{87532B73-EB84-3FCC-F8A4-91EFF79A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61" y="-1"/>
            <a:ext cx="824025" cy="824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AccentBoxVTI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383</cp:revision>
  <dcterms:created xsi:type="dcterms:W3CDTF">2026-06-08T10:53:12Z</dcterms:created>
  <dcterms:modified xsi:type="dcterms:W3CDTF">2026-06-08T18:11:13Z</dcterms:modified>
</cp:coreProperties>
</file>